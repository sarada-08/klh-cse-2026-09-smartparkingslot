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7" r:id="rId18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D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10881360" cy="1965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100" b="1">
                <a:solidFill>
                  <a:srgbClr val="F5F7FA"/>
                </a:solidFill>
                <a:latin typeface="Aptos Display"/>
              </a:rPr>
              <a:t>Design and Simulation of a
Smart Parking Slot Availability
and Entry Control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07792"/>
            <a:ext cx="10332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DDB54B"/>
                </a:solidFill>
                <a:latin typeface="Aptos"/>
              </a:rPr>
              <a:t>DDCA PROJECT  •  Mathematical Theme: LOGIC 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8840" y="3822191"/>
            <a:ext cx="7909560" cy="132588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14600" y="4096512"/>
            <a:ext cx="3200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AKHILA — 2620030655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4096512"/>
            <a:ext cx="3200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SARADA — 2620030660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4599432"/>
            <a:ext cx="3200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PAVAN — 2620030658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4599432"/>
            <a:ext cx="3200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KRITHIKA — 2620030664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42432"/>
            <a:ext cx="10744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8C2D3"/>
                </a:solidFill>
                <a:latin typeface="Aptos"/>
              </a:rPr>
              <a:t>Guide: ____________________   |   Department: CSE   |   KLH Bachupally   |   Academic Year: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 Display"/>
              </a:rPr>
              <a:t>1.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14400" cy="45720"/>
          </a:xfrm>
          <a:prstGeom prst="rect">
            <a:avLst/>
          </a:prstGeom>
          <a:solidFill>
            <a:srgbClr val="DD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2D3"/>
                </a:solidFill>
                <a:latin typeface="Aptos"/>
              </a:rPr>
              <a:t>Why a smart parking control system is useful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6720840" cy="443484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6172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F5F7FA"/>
                </a:solidFill>
                <a:latin typeface="Aptos"/>
              </a:rPr>
              <a:t>Parking becomes difficult when drivers cannot quickly know whether a slot is available.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5989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The system represents each parking slot using a binary status.</a:t>
            </a:r>
          </a:p>
          <a:p>
            <a:pPr>
              <a:spcAft>
                <a:spcPts val="8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Logic gates process slot status and vehicle-arrival information.</a:t>
            </a:r>
          </a:p>
          <a:p>
            <a:pPr>
              <a:spcAft>
                <a:spcPts val="8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The entry gate opens only when a vehicle arrives and a slot is available.</a:t>
            </a:r>
          </a:p>
          <a:p>
            <a:pPr>
              <a:spcAft>
                <a:spcPts val="8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A full indicator turns ON when both slots are occupied.</a:t>
            </a:r>
          </a:p>
          <a:p>
            <a:pPr>
              <a:spcAft>
                <a:spcPts val="8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The complete design can be simulated and verified in Logisim.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737360"/>
            <a:ext cx="3566160" cy="96012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56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874519"/>
            <a:ext cx="640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56BEDC"/>
                </a:solidFill>
                <a:latin typeface="Aptos"/>
              </a:rPr>
              <a:t>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1901952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Slot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2999232"/>
            <a:ext cx="3566160" cy="96012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53C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3136391"/>
            <a:ext cx="640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53C48B"/>
                </a:solidFill>
                <a:latin typeface="Aptos"/>
              </a:rPr>
              <a:t>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3163824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Slot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4261104"/>
            <a:ext cx="3566160" cy="96012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DDB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4398264"/>
            <a:ext cx="640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DDB54B"/>
                </a:solidFill>
                <a:latin typeface="Aptos"/>
              </a:rPr>
              <a:t>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4425696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Vehicle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5650992"/>
            <a:ext cx="374903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B8C2D3"/>
                </a:solidFill>
                <a:latin typeface="Aptos"/>
              </a:rPr>
              <a:t>Binary inputs → logic gates → control 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B8C2D3"/>
                </a:solidFill>
                <a:latin typeface="Aptos"/>
              </a:rPr>
              <a:t>DDCA • Smart Parking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B8C2D3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 Display"/>
              </a:rPr>
              <a:t>2.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14400" cy="45720"/>
          </a:xfrm>
          <a:prstGeom prst="rect">
            <a:avLst/>
          </a:prstGeom>
          <a:solidFill>
            <a:srgbClr val="DD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2D3"/>
                </a:solidFill>
                <a:latin typeface="Aptos"/>
              </a:rPr>
              <a:t>The control problem our circuit solves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5303520" cy="452628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EE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463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EE5C5C"/>
                </a:solidFill>
                <a:latin typeface="Aptos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4572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A vehicle may arrive when all parking slots are occupied.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The gate must not open unless a slot is available.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The system must clearly indicate the full condition.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Manual checking can cause delays and incorrect entry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57800" cy="452628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56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480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56BEDC"/>
                </a:solidFill>
                <a:latin typeface="Aptos"/>
              </a:rPr>
              <a:t>Need for the proposed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526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Simple binary representation of real-world slot states.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Deterministic decision making using Boolean logic.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Safe entry control: Gate_Open = 0 when parking is full.</a:t>
            </a:r>
          </a:p>
          <a:p>
            <a:pPr>
              <a:spcAft>
                <a:spcPts val="8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Easy implementation and testing in Logisim.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49240"/>
            <a:ext cx="10287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DDB54B"/>
                </a:solidFill>
                <a:latin typeface="Aptos"/>
              </a:rPr>
              <a:t>Key idea: convert parking conditions into a small, verifiable digital circuit.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B8C2D3"/>
                </a:solidFill>
                <a:latin typeface="Aptos"/>
              </a:rPr>
              <a:t>DDCA • Smart Parking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B8C2D3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 Display"/>
              </a:rPr>
              <a:t>3.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14400" cy="45720"/>
          </a:xfrm>
          <a:prstGeom prst="rect">
            <a:avLst/>
          </a:prstGeom>
          <a:solidFill>
            <a:srgbClr val="DD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2D3"/>
                </a:solidFill>
                <a:latin typeface="Aptos"/>
              </a:rPr>
              <a:t>Specific goals of the DDCA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5257800" cy="114300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719072"/>
            <a:ext cx="594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DDB54B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91639"/>
            <a:ext cx="4069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Detect slot availability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039112"/>
            <a:ext cx="40690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2D3"/>
                </a:solidFill>
                <a:latin typeface="Aptos"/>
              </a:rPr>
              <a:t>Determine whether both slots are empty.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554480"/>
            <a:ext cx="5257800" cy="114300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719072"/>
            <a:ext cx="594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DDB54B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691639"/>
            <a:ext cx="4069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Control 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039112"/>
            <a:ext cx="40690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2D3"/>
                </a:solidFill>
                <a:latin typeface="Aptos"/>
              </a:rPr>
              <a:t>Open the gate only for an arriving vehicle when space exists.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63239"/>
            <a:ext cx="5257800" cy="114300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227832"/>
            <a:ext cx="594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DDB54B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200399"/>
            <a:ext cx="4069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Detect full parking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547872"/>
            <a:ext cx="40690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2D3"/>
                </a:solidFill>
                <a:latin typeface="Aptos"/>
              </a:rPr>
              <a:t>Turn ON the full indicator when both slots are occupied.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063239"/>
            <a:ext cx="5257800" cy="114300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3227832"/>
            <a:ext cx="594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DDB54B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200399"/>
            <a:ext cx="4069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Use Boolean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547872"/>
            <a:ext cx="40690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2D3"/>
                </a:solidFill>
                <a:latin typeface="Aptos"/>
              </a:rPr>
              <a:t>Implement the design using NOT and AND gates.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572000"/>
            <a:ext cx="5257800" cy="114300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4736592"/>
            <a:ext cx="594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DDB54B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09160"/>
            <a:ext cx="4069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Simulate &amp; 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056632"/>
            <a:ext cx="40690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2D3"/>
                </a:solidFill>
                <a:latin typeface="Aptos"/>
              </a:rPr>
              <a:t>Test every input combination using Logisim and a truth table.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572000"/>
            <a:ext cx="5257800" cy="114300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4736592"/>
            <a:ext cx="594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DDB54B"/>
                </a:solidFill>
                <a:latin typeface="Aptos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709160"/>
            <a:ext cx="4069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Document progress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5056632"/>
            <a:ext cx="40690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2D3"/>
                </a:solidFill>
                <a:latin typeface="Aptos"/>
              </a:rPr>
              <a:t>Maintain the circuit and implementation work in GitHub.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B8C2D3"/>
                </a:solidFill>
                <a:latin typeface="Aptos"/>
              </a:rPr>
              <a:t>DDCA • Smart Parking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B8C2D3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 Display"/>
              </a:rPr>
              <a:t>4. Literature Survey / Existing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14400" cy="45720"/>
          </a:xfrm>
          <a:prstGeom prst="rect">
            <a:avLst/>
          </a:prstGeom>
          <a:solidFill>
            <a:srgbClr val="DD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2D3"/>
                </a:solidFill>
                <a:latin typeface="Aptos"/>
              </a:rPr>
              <a:t>From manual checking to logic-based automation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2057400" cy="59436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56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73352"/>
            <a:ext cx="18745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56BEDC"/>
                </a:solidFill>
                <a:latin typeface="Aptos"/>
              </a:rPr>
              <a:t>Approach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1600200"/>
            <a:ext cx="4572000" cy="59436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56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673352"/>
            <a:ext cx="4389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56BEDC"/>
                </a:solidFill>
                <a:latin typeface="Aptos"/>
              </a:rPr>
              <a:t>How it works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600200"/>
            <a:ext cx="4572000" cy="59436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56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673352"/>
            <a:ext cx="4389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56BEDC"/>
                </a:solidFill>
                <a:latin typeface="Aptos"/>
              </a:rPr>
              <a:t>Limitation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258568"/>
            <a:ext cx="2057400" cy="82296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331720"/>
            <a:ext cx="1837943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Aptos"/>
              </a:rPr>
              <a:t>Manual parking check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2258568"/>
            <a:ext cx="4572000" cy="82296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1488" y="2331720"/>
            <a:ext cx="4352544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2D3"/>
                </a:solidFill>
                <a:latin typeface="Aptos"/>
              </a:rPr>
              <a:t>Driver/security staff checks slot availability.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2258568"/>
            <a:ext cx="4572000" cy="82296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3488" y="2331720"/>
            <a:ext cx="4352544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2D3"/>
                </a:solidFill>
                <a:latin typeface="Aptos"/>
              </a:rPr>
              <a:t>Slow and human-dependent.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218687"/>
            <a:ext cx="2057400" cy="82296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3291839"/>
            <a:ext cx="1837943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Aptos"/>
              </a:rPr>
              <a:t>Simple slot indicator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3218687"/>
            <a:ext cx="4572000" cy="82296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61488" y="3291839"/>
            <a:ext cx="4352544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2D3"/>
                </a:solidFill>
                <a:latin typeface="Aptos"/>
              </a:rPr>
              <a:t>Sensors/indicators show individual occupied slots.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3218687"/>
            <a:ext cx="4572000" cy="82296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33488" y="3291839"/>
            <a:ext cx="4352544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2D3"/>
                </a:solidFill>
                <a:latin typeface="Aptos"/>
              </a:rPr>
              <a:t>Does not automatically control entry.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178808"/>
            <a:ext cx="2057400" cy="82296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4251960"/>
            <a:ext cx="1837943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Aptos"/>
              </a:rPr>
              <a:t>Rule-based controller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51760" y="4178808"/>
            <a:ext cx="4572000" cy="82296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61488" y="4251960"/>
            <a:ext cx="4352544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2D3"/>
                </a:solidFill>
                <a:latin typeface="Aptos"/>
              </a:rPr>
              <a:t>Predefined conditions decide whether entry is allowed.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4178808"/>
            <a:ext cx="4572000" cy="82296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3488" y="4251960"/>
            <a:ext cx="4352544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2D3"/>
                </a:solidFill>
                <a:latin typeface="Aptos"/>
              </a:rPr>
              <a:t>Can become complex as conditions increase.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5138928"/>
            <a:ext cx="2057400" cy="82296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5212080"/>
            <a:ext cx="1837943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Aptos"/>
              </a:rPr>
              <a:t>Proposed DDCA circuit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51760" y="5138928"/>
            <a:ext cx="4572000" cy="82296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61488" y="5212080"/>
            <a:ext cx="4352544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2D3"/>
                </a:solidFill>
                <a:latin typeface="Aptos"/>
              </a:rPr>
              <a:t>Boolean gates combine slot states and vehicle arrival.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23760" y="5138928"/>
            <a:ext cx="4572000" cy="82296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33488" y="5212080"/>
            <a:ext cx="4352544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2D3"/>
                </a:solidFill>
                <a:latin typeface="Aptos"/>
              </a:rPr>
              <a:t>Small design; optimized for a 2-slot demonstration.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DDB54B"/>
                </a:solidFill>
                <a:latin typeface="Aptos"/>
              </a:rPr>
              <a:t>Design decision: keep the logic transparent and easy to prove with a truth table.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B8C2D3"/>
                </a:solidFill>
                <a:latin typeface="Aptos"/>
              </a:rPr>
              <a:t>DDCA • Smart Parking System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B8C2D3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 Display"/>
              </a:rPr>
              <a:t>5. Proposed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14400" cy="45720"/>
          </a:xfrm>
          <a:prstGeom prst="rect">
            <a:avLst/>
          </a:prstGeom>
          <a:solidFill>
            <a:srgbClr val="DD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2D3"/>
                </a:solidFill>
                <a:latin typeface="Aptos"/>
              </a:rPr>
              <a:t>Boolean specification of the smart parking controller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72768"/>
            <a:ext cx="10698480" cy="105156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53C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09928"/>
            <a:ext cx="1920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53C48B"/>
                </a:solidFill>
                <a:latin typeface="Aptos"/>
              </a:rPr>
              <a:t>Availability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673352"/>
            <a:ext cx="4206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F5F7FA"/>
                </a:solidFill>
                <a:latin typeface="Aptos"/>
              </a:rPr>
              <a:t>A = ¬S1 ∧ ¬S2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1755648"/>
            <a:ext cx="4069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B8C2D3"/>
                </a:solidFill>
                <a:latin typeface="Aptos"/>
              </a:rPr>
              <a:t>Both slots must be empty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926080"/>
            <a:ext cx="10698480" cy="105156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56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63240"/>
            <a:ext cx="1920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56BEDC"/>
                </a:solidFill>
                <a:latin typeface="Aptos"/>
              </a:rPr>
              <a:t>Gate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026664"/>
            <a:ext cx="4206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F5F7FA"/>
                </a:solidFill>
                <a:latin typeface="Aptos"/>
              </a:rPr>
              <a:t>Gate_Open = V ∧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3108960"/>
            <a:ext cx="4069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B8C2D3"/>
                </a:solidFill>
                <a:latin typeface="Aptos"/>
              </a:rPr>
              <a:t>Vehicle + available space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279392"/>
            <a:ext cx="10698480" cy="105156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EE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416552"/>
            <a:ext cx="1920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E5C5C"/>
                </a:solidFill>
                <a:latin typeface="Aptos"/>
              </a:rPr>
              <a:t>Full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379976"/>
            <a:ext cx="4206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F5F7FA"/>
                </a:solidFill>
                <a:latin typeface="Aptos"/>
              </a:rPr>
              <a:t>Parking_Full = S1 ∧ S2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4462272"/>
            <a:ext cx="4069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B8C2D3"/>
                </a:solidFill>
                <a:latin typeface="Aptos"/>
              </a:rPr>
              <a:t>Both slots occupied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71500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B8C2D3"/>
                </a:solidFill>
                <a:latin typeface="Aptos"/>
              </a:rPr>
              <a:t>Inputs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5669280"/>
            <a:ext cx="2514600" cy="347472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56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5678424"/>
            <a:ext cx="2514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6BEDC"/>
                </a:solidFill>
                <a:latin typeface="Aptos"/>
              </a:rPr>
              <a:t>S1 = 0 empty / 1 occupied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5669280"/>
            <a:ext cx="2514600" cy="347472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53C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5678424"/>
            <a:ext cx="2514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53C48B"/>
                </a:solidFill>
                <a:latin typeface="Aptos"/>
              </a:rPr>
              <a:t>S2 = 0 empty / 1 occupied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5669280"/>
            <a:ext cx="2148840" cy="347472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DDB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5678424"/>
            <a:ext cx="2148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DDB54B"/>
                </a:solidFill>
                <a:latin typeface="Aptos"/>
              </a:rPr>
              <a:t>V = 1 vehicle arrived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B8C2D3"/>
                </a:solidFill>
                <a:latin typeface="Aptos"/>
              </a:rPr>
              <a:t>DDCA • Smart Parking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B8C2D3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 Display"/>
              </a:rPr>
              <a:t>6. System Architecture / Block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14400" cy="45720"/>
          </a:xfrm>
          <a:prstGeom prst="rect">
            <a:avLst/>
          </a:prstGeom>
          <a:solidFill>
            <a:srgbClr val="DD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2D3"/>
                </a:solidFill>
                <a:latin typeface="Aptos"/>
              </a:rPr>
              <a:t>Signal flow from parking slots to entry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1737360" cy="91440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56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1554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6BEDC"/>
                </a:solidFill>
                <a:latin typeface="Aptos"/>
              </a:rPr>
              <a:t>S1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87168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8C2D3"/>
                </a:solidFill>
                <a:latin typeface="Aptos"/>
              </a:rPr>
              <a:t>Slot 1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57600"/>
            <a:ext cx="1737360" cy="91440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53C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1554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3C48B"/>
                </a:solidFill>
                <a:latin typeface="Aptos"/>
              </a:rPr>
              <a:t>S2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24528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8C2D3"/>
                </a:solidFill>
                <a:latin typeface="Aptos"/>
              </a:rPr>
              <a:t>Slot 2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2606040"/>
            <a:ext cx="2057400" cy="118872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53C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2743200"/>
            <a:ext cx="187451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3C48B"/>
                </a:solidFill>
                <a:latin typeface="Aptos"/>
              </a:rPr>
              <a:t>SLOT
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172968"/>
            <a:ext cx="187451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8C2D3"/>
                </a:solidFill>
                <a:latin typeface="Aptos"/>
              </a:rPr>
              <a:t>¬S1 ∧ ¬S2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2606040"/>
            <a:ext cx="2057400" cy="118872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56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2743200"/>
            <a:ext cx="1874519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6BEDC"/>
                </a:solidFill>
                <a:latin typeface="Aptos"/>
              </a:rPr>
              <a:t>ENTRY
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172968"/>
            <a:ext cx="187451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8C2D3"/>
                </a:solidFill>
                <a:latin typeface="Aptos"/>
              </a:rPr>
              <a:t>V ∧ Available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606040"/>
            <a:ext cx="2286000" cy="118872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DDB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743200"/>
            <a:ext cx="2103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DDB54B"/>
                </a:solidFill>
                <a:latin typeface="Aptos"/>
              </a:rPr>
              <a:t>GATE OPEN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172968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8C2D3"/>
                </a:solidFill>
                <a:latin typeface="Aptos"/>
              </a:rPr>
              <a:t>1 = Open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23160" y="2377440"/>
            <a:ext cx="594360" cy="685800"/>
          </a:xfrm>
          <a:prstGeom prst="line">
            <a:avLst/>
          </a:prstGeom>
          <a:ln w="31750">
            <a:solidFill>
              <a:srgbClr val="56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423160" y="3337560"/>
            <a:ext cx="594360" cy="777240"/>
          </a:xfrm>
          <a:prstGeom prst="line">
            <a:avLst/>
          </a:prstGeom>
          <a:ln w="31750">
            <a:solidFill>
              <a:srgbClr val="53C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74920" y="3200400"/>
            <a:ext cx="594360" cy="0"/>
          </a:xfrm>
          <a:prstGeom prst="line">
            <a:avLst/>
          </a:prstGeom>
          <a:ln w="31750">
            <a:solidFill>
              <a:srgbClr val="53C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063240" y="4800600"/>
            <a:ext cx="1417320" cy="73152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DDB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63240" y="4892040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DDB54B"/>
                </a:solidFill>
                <a:latin typeface="Aptos"/>
              </a:rPr>
              <a:t>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5138928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B8C2D3"/>
                </a:solidFill>
                <a:latin typeface="Aptos"/>
              </a:rPr>
              <a:t>Vehicle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4480560" y="3794760"/>
            <a:ext cx="1828800" cy="1371600"/>
          </a:xfrm>
          <a:prstGeom prst="line">
            <a:avLst/>
          </a:prstGeom>
          <a:ln w="31750">
            <a:solidFill>
              <a:srgbClr val="DDB5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726679" y="3200400"/>
            <a:ext cx="640081" cy="0"/>
          </a:xfrm>
          <a:prstGeom prst="line">
            <a:avLst/>
          </a:prstGeom>
          <a:ln w="31750">
            <a:solidFill>
              <a:srgbClr val="56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669280" y="4709160"/>
            <a:ext cx="2057400" cy="96012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EE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0" y="4828032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EE5C5C"/>
                </a:solidFill>
                <a:latin typeface="Aptos"/>
              </a:rPr>
              <a:t>FULL DETECTOR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5184648"/>
            <a:ext cx="187451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S1 ∧ S2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66760" y="4709160"/>
            <a:ext cx="2286000" cy="96012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EE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4828032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EE5C5C"/>
                </a:solidFill>
                <a:latin typeface="Aptos"/>
              </a:rPr>
              <a:t>PARKING FULL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5184648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B8C2D3"/>
                </a:solidFill>
                <a:latin typeface="Aptos"/>
              </a:rPr>
              <a:t>1 = Full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26679" y="5193792"/>
            <a:ext cx="640081" cy="0"/>
          </a:xfrm>
          <a:prstGeom prst="line">
            <a:avLst/>
          </a:prstGeom>
          <a:ln w="31750">
            <a:solidFill>
              <a:srgbClr val="EE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011680" y="5897880"/>
            <a:ext cx="8138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DDB54B"/>
                </a:solidFill>
                <a:latin typeface="Aptos"/>
              </a:rPr>
              <a:t>Two independent outputs: entry permission + full 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B8C2D3"/>
                </a:solidFill>
                <a:latin typeface="Aptos"/>
              </a:rPr>
              <a:t>DDCA • Smart Parking System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B8C2D3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 Display"/>
              </a:rPr>
              <a:t>7. Methodology / Logisim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14400" cy="45720"/>
          </a:xfrm>
          <a:prstGeom prst="rect">
            <a:avLst/>
          </a:prstGeom>
          <a:solidFill>
            <a:srgbClr val="DD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2D3"/>
                </a:solidFill>
                <a:latin typeface="Aptos"/>
              </a:rPr>
              <a:t>Gate-level implementation using NOT and AND 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1155680" cy="452628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6BEDC"/>
                </a:solidFill>
                <a:latin typeface="Aptos"/>
              </a:rPr>
              <a:t>S1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3C48B"/>
                </a:solidFill>
                <a:latin typeface="Aptos"/>
              </a:rPr>
              <a:t>S2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61772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DDB54B"/>
                </a:solidFill>
                <a:latin typeface="Aptos"/>
              </a:rPr>
              <a:t>V</a:t>
            </a:r>
          </a:p>
        </p:txBody>
      </p:sp>
      <p:sp>
        <p:nvSpPr>
          <p:cNvPr id="9" name="Isosceles Triangle 8"/>
          <p:cNvSpPr/>
          <p:nvPr/>
        </p:nvSpPr>
        <p:spPr>
          <a:xfrm rot="5400000">
            <a:off x="1417320" y="1664208"/>
            <a:ext cx="748893" cy="594360"/>
          </a:xfrm>
          <a:prstGeom prst="triangle">
            <a:avLst/>
          </a:prstGeom>
          <a:solidFill>
            <a:srgbClr val="16223A"/>
          </a:solidFill>
          <a:ln>
            <a:solidFill>
              <a:srgbClr val="56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89404" y="1866290"/>
            <a:ext cx="148590" cy="148590"/>
          </a:xfrm>
          <a:prstGeom prst="ellipse">
            <a:avLst/>
          </a:prstGeom>
          <a:solidFill>
            <a:srgbClr val="16223A"/>
          </a:solidFill>
          <a:ln>
            <a:solidFill>
              <a:srgbClr val="56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27685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B8C2D3"/>
                </a:solidFill>
                <a:latin typeface="Aptos"/>
              </a:rPr>
              <a:t>NOT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181965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¬S1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1417320" y="2807208"/>
            <a:ext cx="748893" cy="594360"/>
          </a:xfrm>
          <a:prstGeom prst="triangle">
            <a:avLst/>
          </a:prstGeom>
          <a:solidFill>
            <a:srgbClr val="16223A"/>
          </a:solidFill>
          <a:ln>
            <a:solidFill>
              <a:srgbClr val="53C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89404" y="3009290"/>
            <a:ext cx="148590" cy="148590"/>
          </a:xfrm>
          <a:prstGeom prst="ellipse">
            <a:avLst/>
          </a:prstGeom>
          <a:solidFill>
            <a:srgbClr val="16223A"/>
          </a:solidFill>
          <a:ln>
            <a:solidFill>
              <a:srgbClr val="53C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3419856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B8C2D3"/>
                </a:solidFill>
                <a:latin typeface="Aptos"/>
              </a:rPr>
              <a:t>NOT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2962656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¬S2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280160" y="1965960"/>
            <a:ext cx="137160" cy="0"/>
          </a:xfrm>
          <a:prstGeom prst="line">
            <a:avLst/>
          </a:prstGeom>
          <a:ln w="25400">
            <a:solidFill>
              <a:srgbClr val="56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280160" y="3108960"/>
            <a:ext cx="137160" cy="0"/>
          </a:xfrm>
          <a:prstGeom prst="line">
            <a:avLst/>
          </a:prstGeom>
          <a:ln w="25400">
            <a:solidFill>
              <a:srgbClr val="53C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063240" y="1965960"/>
            <a:ext cx="365760" cy="0"/>
          </a:xfrm>
          <a:prstGeom prst="line">
            <a:avLst/>
          </a:prstGeom>
          <a:ln w="25400">
            <a:solidFill>
              <a:srgbClr val="56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063240" y="3108960"/>
            <a:ext cx="365760" cy="0"/>
          </a:xfrm>
          <a:prstGeom prst="line">
            <a:avLst/>
          </a:prstGeom>
          <a:ln w="25400">
            <a:solidFill>
              <a:srgbClr val="53C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429000" y="2331720"/>
            <a:ext cx="1234440" cy="822960"/>
          </a:xfrm>
          <a:prstGeom prst="roundRect">
            <a:avLst/>
          </a:prstGeom>
          <a:solidFill>
            <a:srgbClr val="16223A"/>
          </a:solidFill>
          <a:ln>
            <a:solidFill>
              <a:srgbClr val="53C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377439"/>
            <a:ext cx="1234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53C48B"/>
                </a:solidFill>
                <a:latin typeface="Aptos"/>
              </a:rPr>
              <a:t>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3383279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A"/>
                </a:solidFill>
                <a:latin typeface="Aptos"/>
              </a:rPr>
              <a:t>AVAILABLE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3429000"/>
            <a:ext cx="1600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B8C2D3"/>
                </a:solidFill>
                <a:latin typeface="Aptos"/>
              </a:rPr>
              <a:t>A = ¬S1 ∧ ¬S2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280160" y="4754880"/>
            <a:ext cx="3794760" cy="0"/>
          </a:xfrm>
          <a:prstGeom prst="line">
            <a:avLst/>
          </a:prstGeom>
          <a:ln w="25400">
            <a:solidFill>
              <a:srgbClr val="DDB5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074920" y="3154680"/>
            <a:ext cx="0" cy="1600200"/>
          </a:xfrm>
          <a:prstGeom prst="line">
            <a:avLst/>
          </a:prstGeom>
          <a:ln w="25400">
            <a:solidFill>
              <a:srgbClr val="DDB5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663440" y="2743200"/>
            <a:ext cx="411480" cy="0"/>
          </a:xfrm>
          <a:prstGeom prst="line">
            <a:avLst/>
          </a:prstGeom>
          <a:ln w="25400">
            <a:solidFill>
              <a:srgbClr val="53C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074920" y="2331720"/>
            <a:ext cx="1234440" cy="822960"/>
          </a:xfrm>
          <a:prstGeom prst="roundRect">
            <a:avLst/>
          </a:prstGeom>
          <a:solidFill>
            <a:srgbClr val="16223A"/>
          </a:solidFill>
          <a:ln>
            <a:solidFill>
              <a:srgbClr val="56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2377439"/>
            <a:ext cx="1234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56BEDC"/>
                </a:solidFill>
                <a:latin typeface="Aptos"/>
              </a:rPr>
              <a:t>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3383279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A"/>
                </a:solidFill>
                <a:latin typeface="Aptos"/>
              </a:rPr>
              <a:t>GATE OPEN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3429000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B8C2D3"/>
                </a:solidFill>
                <a:latin typeface="Aptos"/>
              </a:rPr>
              <a:t>V ∧ A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280160" y="1965960"/>
            <a:ext cx="6080760" cy="0"/>
          </a:xfrm>
          <a:prstGeom prst="line">
            <a:avLst/>
          </a:prstGeom>
          <a:ln w="25400">
            <a:solidFill>
              <a:srgbClr val="56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280160" y="3108960"/>
            <a:ext cx="6080760" cy="0"/>
          </a:xfrm>
          <a:prstGeom prst="line">
            <a:avLst/>
          </a:prstGeom>
          <a:ln w="25400">
            <a:solidFill>
              <a:srgbClr val="53C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46520" y="18288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6BEDC"/>
                </a:solidFill>
                <a:latin typeface="Aptos"/>
              </a:rPr>
              <a:t>S1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97180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3C48B"/>
                </a:solidFill>
                <a:latin typeface="Aptos"/>
              </a:rPr>
              <a:t>S2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60920" y="2331720"/>
            <a:ext cx="1234440" cy="822960"/>
          </a:xfrm>
          <a:prstGeom prst="roundRect">
            <a:avLst/>
          </a:prstGeom>
          <a:solidFill>
            <a:srgbClr val="16223A"/>
          </a:solidFill>
          <a:ln>
            <a:solidFill>
              <a:srgbClr val="EE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0920" y="2377439"/>
            <a:ext cx="1234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EE5C5C"/>
                </a:solidFill>
                <a:latin typeface="Aptos"/>
              </a:rPr>
              <a:t>AND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3383279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7FA"/>
                </a:solidFill>
                <a:latin typeface="Aptos"/>
              </a:rPr>
              <a:t>FULL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3429000"/>
            <a:ext cx="1600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B8C2D3"/>
                </a:solidFill>
                <a:latin typeface="Aptos"/>
              </a:rPr>
              <a:t>S1 ∧ S2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309360" y="2743200"/>
            <a:ext cx="2834640" cy="0"/>
          </a:xfrm>
          <a:prstGeom prst="line">
            <a:avLst/>
          </a:prstGeom>
          <a:ln w="25400">
            <a:solidFill>
              <a:srgbClr val="56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595360" y="2743200"/>
            <a:ext cx="548640" cy="0"/>
          </a:xfrm>
          <a:prstGeom prst="line">
            <a:avLst/>
          </a:prstGeom>
          <a:ln w="25400">
            <a:solidFill>
              <a:srgbClr val="56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595360" y="2148840"/>
            <a:ext cx="0" cy="594360"/>
          </a:xfrm>
          <a:prstGeom prst="line">
            <a:avLst/>
          </a:prstGeom>
          <a:ln w="25400">
            <a:solidFill>
              <a:srgbClr val="56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595360" y="2148840"/>
            <a:ext cx="548640" cy="0"/>
          </a:xfrm>
          <a:prstGeom prst="line">
            <a:avLst/>
          </a:prstGeom>
          <a:ln w="25400">
            <a:solidFill>
              <a:srgbClr val="56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144000" y="1874519"/>
            <a:ext cx="1417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6BEDC"/>
                </a:solidFill>
                <a:latin typeface="Aptos"/>
              </a:rPr>
              <a:t>Gate_Open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3337560"/>
            <a:ext cx="1417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EE5C5C"/>
                </a:solidFill>
                <a:latin typeface="Aptos"/>
              </a:rPr>
              <a:t>Parking_Full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623560"/>
            <a:ext cx="10652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B8C2D3"/>
                </a:solidFill>
                <a:latin typeface="Aptos"/>
              </a:rPr>
              <a:t>1. Place 3 input pins: S1, S2, V.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623560"/>
            <a:ext cx="10652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B8C2D3"/>
                </a:solidFill>
                <a:latin typeface="Aptos"/>
              </a:rPr>
              <a:t>2. Invert S1 and S2 to obtain empty-slot signals.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623560"/>
            <a:ext cx="10652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B8C2D3"/>
                </a:solidFill>
                <a:latin typeface="Aptos"/>
              </a:rPr>
              <a:t>3. AND the inverted signals for availability.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5623560"/>
            <a:ext cx="10652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B8C2D3"/>
                </a:solidFill>
                <a:latin typeface="Aptos"/>
              </a:rPr>
              <a:t>4. AND availability with V for gate control.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5623560"/>
            <a:ext cx="10652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B8C2D3"/>
                </a:solidFill>
                <a:latin typeface="Aptos"/>
              </a:rPr>
              <a:t>5. AND raw S1 and S2 for the full indicator.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623560"/>
            <a:ext cx="10652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B8C2D3"/>
                </a:solidFill>
                <a:latin typeface="Aptos"/>
              </a:rPr>
              <a:t>6. Connect LEDs/probes and test all input combinations.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5596128"/>
            <a:ext cx="2011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DDB54B"/>
                </a:solidFill>
                <a:latin typeface="Aptos"/>
              </a:rPr>
              <a:t>Implementation sequence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0" y="5596128"/>
            <a:ext cx="3108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5F7FA"/>
                </a:solidFill>
                <a:latin typeface="Aptos"/>
              </a:rPr>
              <a:t>Inputs → NOT → AND → outputs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89320" y="5596128"/>
            <a:ext cx="4572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5F7FA"/>
                </a:solidFill>
                <a:latin typeface="Aptos"/>
              </a:rPr>
              <a:t>Verification → truth table → Logisim simulation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B8C2D3"/>
                </a:solidFill>
                <a:latin typeface="Aptos"/>
              </a:rPr>
              <a:t>DDCA • Smart Parking System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B8C2D3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 Display"/>
              </a:rPr>
              <a:t>8. Results and 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14400" cy="45720"/>
          </a:xfrm>
          <a:prstGeom prst="rect">
            <a:avLst/>
          </a:prstGeom>
          <a:solidFill>
            <a:srgbClr val="DD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2D3"/>
                </a:solidFill>
                <a:latin typeface="Aptos"/>
              </a:rPr>
              <a:t>Truth-table verification of the Boolean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1051560" cy="530352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56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81912"/>
            <a:ext cx="10515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6BEDC"/>
                </a:solidFill>
                <a:latin typeface="Aptos"/>
              </a:rPr>
              <a:t>S1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19" y="1508760"/>
            <a:ext cx="1051560" cy="530352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56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19" y="1581912"/>
            <a:ext cx="10515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6BEDC"/>
                </a:solidFill>
                <a:latin typeface="Aptos"/>
              </a:rPr>
              <a:t>S2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79" y="1508760"/>
            <a:ext cx="1051560" cy="530352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56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79" y="1581912"/>
            <a:ext cx="10515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6BEDC"/>
                </a:solidFill>
                <a:latin typeface="Aptos"/>
              </a:rPr>
              <a:t>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1508760"/>
            <a:ext cx="1965960" cy="530352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56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581912"/>
            <a:ext cx="1965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6BEDC"/>
                </a:solidFill>
                <a:latin typeface="Aptos"/>
              </a:rPr>
              <a:t>Available 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1508760"/>
            <a:ext cx="1965960" cy="530352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56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0" y="1581912"/>
            <a:ext cx="1965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6BEDC"/>
                </a:solidFill>
                <a:latin typeface="Aptos"/>
              </a:rPr>
              <a:t>Gate_Open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1508760"/>
            <a:ext cx="1965960" cy="530352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56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1581912"/>
            <a:ext cx="1965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6BEDC"/>
                </a:solidFill>
                <a:latin typeface="Aptos"/>
              </a:rPr>
              <a:t>Parking_Full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075688"/>
            <a:ext cx="10515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121408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45919" y="2075688"/>
            <a:ext cx="10515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19" y="2121408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97479" y="2075688"/>
            <a:ext cx="10515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7479" y="2121408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49039" y="2075688"/>
            <a:ext cx="19659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39" y="2121408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075688"/>
            <a:ext cx="19659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2121408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0" y="2075688"/>
            <a:ext cx="19659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2121408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2587752"/>
            <a:ext cx="10515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2633472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45919" y="2587752"/>
            <a:ext cx="10515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45919" y="2633472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97479" y="2587752"/>
            <a:ext cx="10515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97479" y="2633472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49039" y="2587752"/>
            <a:ext cx="19659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39" y="2633472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15000" y="2587752"/>
            <a:ext cx="19659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15000" y="2633472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3C48B"/>
                </a:solidFill>
                <a:latin typeface="Aptos"/>
              </a:rPr>
              <a:t>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80960" y="2587752"/>
            <a:ext cx="19659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0" y="2633472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3099816"/>
            <a:ext cx="10515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3145536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645919" y="3099816"/>
            <a:ext cx="10515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45919" y="3145536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697479" y="3099816"/>
            <a:ext cx="10515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97479" y="3145536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749039" y="3099816"/>
            <a:ext cx="19659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39" y="3145536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715000" y="3099816"/>
            <a:ext cx="19659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15000" y="3145536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680960" y="3099816"/>
            <a:ext cx="19659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0" y="3145536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4360" y="3611880"/>
            <a:ext cx="10515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3657600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645919" y="3611880"/>
            <a:ext cx="10515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645919" y="3657600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697479" y="3611880"/>
            <a:ext cx="10515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97479" y="3657600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1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749039" y="3611880"/>
            <a:ext cx="19659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749039" y="3657600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0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715000" y="3611880"/>
            <a:ext cx="19659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15000" y="3657600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0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680960" y="3611880"/>
            <a:ext cx="19659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60" y="3657600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4123944"/>
            <a:ext cx="10515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4360" y="4169663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1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645919" y="4123944"/>
            <a:ext cx="10515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645919" y="4169663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697479" y="4123944"/>
            <a:ext cx="10515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97479" y="4169663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749039" y="4123944"/>
            <a:ext cx="19659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749039" y="4169663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715000" y="4123944"/>
            <a:ext cx="19659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715000" y="4169663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0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680960" y="4123944"/>
            <a:ext cx="19659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680960" y="4169663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0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94360" y="4636008"/>
            <a:ext cx="10515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94360" y="4681728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1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645919" y="4636008"/>
            <a:ext cx="10515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645919" y="4681728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0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697479" y="4636008"/>
            <a:ext cx="10515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97479" y="4681728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1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749039" y="4636008"/>
            <a:ext cx="19659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749039" y="4681728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0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715000" y="4636008"/>
            <a:ext cx="19659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715000" y="4681728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0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680960" y="4636008"/>
            <a:ext cx="19659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680960" y="4681728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0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94360" y="5148072"/>
            <a:ext cx="10515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94360" y="5193792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1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645919" y="5148072"/>
            <a:ext cx="10515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645919" y="5193792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1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697479" y="5148072"/>
            <a:ext cx="10515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697479" y="5193792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0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749039" y="5148072"/>
            <a:ext cx="19659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749039" y="5193792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0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715000" y="5148072"/>
            <a:ext cx="19659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715000" y="5193792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0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680960" y="5148072"/>
            <a:ext cx="19659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680960" y="5193792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E5C5C"/>
                </a:solidFill>
                <a:latin typeface="Aptos"/>
              </a:rPr>
              <a:t>1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94360" y="5660136"/>
            <a:ext cx="10515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94360" y="5705856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1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645919" y="5660136"/>
            <a:ext cx="10515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645919" y="5705856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1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2697479" y="5660136"/>
            <a:ext cx="10515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697479" y="5705856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1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3749039" y="5660136"/>
            <a:ext cx="19659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749039" y="5705856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0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715000" y="5660136"/>
            <a:ext cx="19659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715000" y="5705856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0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680960" y="5660136"/>
            <a:ext cx="1965960" cy="448056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364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680960" y="5705856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E5C5C"/>
                </a:solidFill>
                <a:latin typeface="Aptos"/>
              </a:rPr>
              <a:t>1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7726679" y="1508760"/>
            <a:ext cx="3840480" cy="4553712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DDB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001000" y="1783080"/>
            <a:ext cx="3291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DDB54B"/>
                </a:solidFill>
                <a:latin typeface="Aptos"/>
              </a:rPr>
              <a:t>Expected observations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001000" y="2423160"/>
            <a:ext cx="32004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Gate_Open = 1 only for S1=0, S2=0, V=1.</a:t>
            </a:r>
          </a:p>
          <a:p>
            <a:pPr>
              <a:spcAft>
                <a:spcPts val="8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Gate_Open stays 0 if no vehicle arrives.</a:t>
            </a:r>
          </a:p>
          <a:p>
            <a:pPr>
              <a:spcAft>
                <a:spcPts val="8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Parking_Full = 1 whenever S1=1 and S2=1.</a:t>
            </a:r>
          </a:p>
          <a:p>
            <a:pPr>
              <a:spcAft>
                <a:spcPts val="8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The full signal does not depend on V.</a:t>
            </a:r>
          </a:p>
          <a:p>
            <a:pPr>
              <a:spcAft>
                <a:spcPts val="8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Every input combination has a deterministic output.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001000" y="5257800"/>
            <a:ext cx="3200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This truth table becomes the test plan for the Logisim circuit.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B8C2D3"/>
                </a:solidFill>
                <a:latin typeface="Aptos"/>
              </a:rPr>
              <a:t>DDCA • Smart Parking System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B8C2D3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 Display"/>
              </a:rPr>
              <a:t>9. Conclusion &amp; Project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14400" cy="45720"/>
          </a:xfrm>
          <a:prstGeom prst="rect">
            <a:avLst/>
          </a:prstGeom>
          <a:solidFill>
            <a:srgbClr val="DD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2D3"/>
                </a:solidFill>
                <a:latin typeface="Aptos"/>
              </a:rPr>
              <a:t>What the project achieves and how the team will submit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303520" cy="452628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53C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53C48B"/>
                </a:solidFill>
                <a:latin typeface="Aptos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A 2-slot smart parking controller was specified using Boolean logic.</a:t>
            </a:r>
          </a:p>
          <a:p>
            <a:pPr>
              <a:spcAft>
                <a:spcPts val="8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NOT gates detect empty slots; AND gates implement availability, entry control, and full detection.</a:t>
            </a:r>
          </a:p>
          <a:p>
            <a:pPr>
              <a:spcAft>
                <a:spcPts val="8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The truth table provides a complete correctness check for the design.</a:t>
            </a:r>
          </a:p>
          <a:p>
            <a:pPr>
              <a:spcAft>
                <a:spcPts val="8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The circuit is compact, transparent, and directly implementable in Logisim.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08760"/>
            <a:ext cx="5212080" cy="452628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56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783080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56BEDC"/>
                </a:solidFill>
                <a:latin typeface="Aptos"/>
              </a:rPr>
              <a:t>Required project deliverables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DDB54B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468880"/>
            <a:ext cx="3611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Project PPT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788920"/>
            <a:ext cx="3794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8C2D3"/>
                </a:solidFill>
                <a:latin typeface="Aptos"/>
              </a:rPr>
              <a:t>Presentation of the complete project.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493008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DDB54B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3493008"/>
            <a:ext cx="3611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Circuit file (.circ)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813048"/>
            <a:ext cx="3794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8C2D3"/>
                </a:solidFill>
                <a:latin typeface="Aptos"/>
              </a:rPr>
              <a:t>Logisim implementation of the logic.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517136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DDB54B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4517136"/>
            <a:ext cx="3611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GitHub repository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4837176"/>
            <a:ext cx="3794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B8C2D3"/>
                </a:solidFill>
                <a:latin typeface="Aptos"/>
              </a:rPr>
              <a:t>Each student commits and pushes their actual 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5486400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DDB54B"/>
                </a:solidFill>
                <a:latin typeface="Aptos"/>
              </a:rPr>
              <a:t>Recommended GitHub flow: clone → create branch → implement → commit → push → merge/pull request.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B8C2D3"/>
                </a:solidFill>
                <a:latin typeface="Aptos"/>
              </a:rPr>
              <a:t>DDCA • Smart Parking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B8C2D3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D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F5F7FA"/>
                </a:solidFill>
                <a:latin typeface="Aptos Display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46120"/>
            <a:ext cx="94183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B8C2D3"/>
                </a:solidFill>
                <a:latin typeface="Aptos"/>
              </a:rPr>
              <a:t>Design and Simulation of a Smart Parking Slot Availability and Entry Control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25196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DDB54B"/>
                </a:solidFill>
                <a:latin typeface="Aptos"/>
              </a:rPr>
              <a:t>AKHILA  •  SARADA  •  PAVAN  •  KRITHIKA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80060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8C2D3"/>
                </a:solidFill>
                <a:latin typeface="Aptos"/>
              </a:rPr>
              <a:t>DDCA Project  |  KLH Bachupally  |  2026–27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B8C2D3"/>
                </a:solidFill>
                <a:latin typeface="Aptos"/>
              </a:rPr>
              <a:t>DDCA • Smart Parking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B8C2D3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Aptos"/>
              </a:rPr>
              <a:t>7. Methodology /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24128"/>
            <a:ext cx="914400" cy="45720"/>
          </a:xfrm>
          <a:prstGeom prst="rect">
            <a:avLst/>
          </a:prstGeom>
          <a:solidFill>
            <a:srgbClr val="DD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078992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2D3"/>
                </a:solidFill>
                <a:latin typeface="Aptos"/>
              </a:rPr>
              <a:t>Clear gate-by-gate Logisim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5669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53C48B"/>
                </a:solidFill>
                <a:latin typeface="Aptos"/>
              </a:rPr>
              <a:t>A. SLOT AVAILABILITY + ENTRY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960120" cy="658368"/>
          </a:xfrm>
          <a:prstGeom prst="roundRect">
            <a:avLst/>
          </a:prstGeom>
          <a:solidFill>
            <a:srgbClr val="16223A"/>
          </a:solidFill>
          <a:ln w="16510">
            <a:solidFill>
              <a:srgbClr val="56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6BEDC"/>
                </a:solidFill>
                <a:latin typeface="Aptos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79192"/>
            <a:ext cx="1097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B8C2D3"/>
                </a:solidFill>
                <a:latin typeface="Aptos"/>
              </a:rPr>
              <a:t>0 = Empty
1 = Occupied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520440"/>
            <a:ext cx="960120" cy="658368"/>
          </a:xfrm>
          <a:prstGeom prst="roundRect">
            <a:avLst/>
          </a:prstGeom>
          <a:solidFill>
            <a:srgbClr val="16223A"/>
          </a:solidFill>
          <a:ln w="16510">
            <a:solidFill>
              <a:srgbClr val="53C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611880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3C48B"/>
                </a:solidFill>
                <a:latin typeface="Aptos"/>
              </a:rPr>
              <a:t>S2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33672"/>
            <a:ext cx="1097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B8C2D3"/>
                </a:solidFill>
                <a:latin typeface="Aptos"/>
              </a:rPr>
              <a:t>0 = Empty
1 = Occupied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1993392"/>
            <a:ext cx="1051560" cy="621792"/>
          </a:xfrm>
          <a:prstGeom prst="roundRect">
            <a:avLst/>
          </a:prstGeom>
          <a:solidFill>
            <a:srgbClr val="16223A"/>
          </a:solidFill>
          <a:ln w="16510">
            <a:solidFill>
              <a:srgbClr val="56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2066544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56BEDC"/>
                </a:solidFill>
                <a:latin typeface="Aptos"/>
              </a:rPr>
              <a:t>NOT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65960" y="3547872"/>
            <a:ext cx="1051560" cy="621792"/>
          </a:xfrm>
          <a:prstGeom prst="roundRect">
            <a:avLst/>
          </a:prstGeom>
          <a:solidFill>
            <a:srgbClr val="16223A"/>
          </a:solidFill>
          <a:ln w="16510">
            <a:solidFill>
              <a:srgbClr val="53C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5960" y="3621024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53C48B"/>
                </a:solidFill>
                <a:latin typeface="Aptos"/>
              </a:rPr>
              <a:t>NOT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45920" y="2295144"/>
            <a:ext cx="320040" cy="0"/>
          </a:xfrm>
          <a:prstGeom prst="line">
            <a:avLst/>
          </a:prstGeom>
          <a:ln w="31750">
            <a:solidFill>
              <a:srgbClr val="56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645920" y="3849624"/>
            <a:ext cx="320040" cy="0"/>
          </a:xfrm>
          <a:prstGeom prst="line">
            <a:avLst/>
          </a:prstGeom>
          <a:ln w="31750">
            <a:solidFill>
              <a:srgbClr val="53C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090672" y="2103120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56BEDC"/>
                </a:solidFill>
                <a:latin typeface="Aptos"/>
              </a:rPr>
              <a:t>¬S1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0672" y="3657600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53C48B"/>
                </a:solidFill>
                <a:latin typeface="Aptos"/>
              </a:rPr>
              <a:t>¬S2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4760" y="2697480"/>
            <a:ext cx="1234440" cy="822960"/>
          </a:xfrm>
          <a:prstGeom prst="roundRect">
            <a:avLst/>
          </a:prstGeom>
          <a:solidFill>
            <a:srgbClr val="16223A"/>
          </a:solidFill>
          <a:ln w="16510">
            <a:solidFill>
              <a:srgbClr val="53C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4760" y="2770632"/>
            <a:ext cx="1234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53C48B"/>
                </a:solidFill>
                <a:latin typeface="Aptos"/>
              </a:rPr>
              <a:t>AND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017520" y="2295144"/>
            <a:ext cx="777240" cy="612648"/>
          </a:xfrm>
          <a:prstGeom prst="line">
            <a:avLst/>
          </a:prstGeom>
          <a:ln w="31750">
            <a:solidFill>
              <a:srgbClr val="56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017520" y="3310128"/>
            <a:ext cx="777240" cy="539496"/>
          </a:xfrm>
          <a:prstGeom prst="line">
            <a:avLst/>
          </a:prstGeom>
          <a:ln w="31750">
            <a:solidFill>
              <a:srgbClr val="53C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429000" y="3584448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3C48B"/>
                </a:solidFill>
                <a:latin typeface="Aptos"/>
              </a:rPr>
              <a:t>SLOT AVAILABLE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3886200"/>
            <a:ext cx="2148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A = ¬S1 ∧ ¬S2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94760" y="4846320"/>
            <a:ext cx="1234440" cy="658368"/>
          </a:xfrm>
          <a:prstGeom prst="roundRect">
            <a:avLst/>
          </a:prstGeom>
          <a:solidFill>
            <a:srgbClr val="16223A"/>
          </a:solidFill>
          <a:ln w="16510">
            <a:solidFill>
              <a:srgbClr val="DDB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4937760"/>
            <a:ext cx="12344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DDB54B"/>
                </a:solidFill>
                <a:latin typeface="Aptos"/>
              </a:rPr>
              <a:t>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5504688"/>
            <a:ext cx="1600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B8C2D3"/>
                </a:solidFill>
                <a:latin typeface="Aptos"/>
              </a:rPr>
              <a:t>1 = Vehicle Arrived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15000" y="2788920"/>
            <a:ext cx="1325880" cy="822960"/>
          </a:xfrm>
          <a:prstGeom prst="roundRect">
            <a:avLst/>
          </a:prstGeom>
          <a:solidFill>
            <a:srgbClr val="16223A"/>
          </a:solidFill>
          <a:ln w="16510">
            <a:solidFill>
              <a:srgbClr val="56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15000" y="2862072"/>
            <a:ext cx="1325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56BEDC"/>
                </a:solidFill>
                <a:latin typeface="Aptos"/>
              </a:rPr>
              <a:t>AND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0" y="3108960"/>
            <a:ext cx="685800" cy="0"/>
          </a:xfrm>
          <a:prstGeom prst="line">
            <a:avLst/>
          </a:prstGeom>
          <a:ln w="31750">
            <a:solidFill>
              <a:srgbClr val="53C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029200" y="3456432"/>
            <a:ext cx="685800" cy="1719072"/>
          </a:xfrm>
          <a:prstGeom prst="line">
            <a:avLst/>
          </a:prstGeom>
          <a:ln w="31750">
            <a:solidFill>
              <a:srgbClr val="DDB5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6400" y="3675887"/>
            <a:ext cx="1783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56BEDC"/>
                </a:solidFill>
                <a:latin typeface="Aptos"/>
              </a:rPr>
              <a:t>GATE OPEN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21808" y="4005072"/>
            <a:ext cx="2057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Gate_Open = V ∧ 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43800" y="2788920"/>
            <a:ext cx="1965960" cy="822960"/>
          </a:xfrm>
          <a:prstGeom prst="roundRect">
            <a:avLst/>
          </a:prstGeom>
          <a:solidFill>
            <a:srgbClr val="16223A"/>
          </a:solidFill>
          <a:ln w="16510">
            <a:solidFill>
              <a:srgbClr val="56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43800" y="2907792"/>
            <a:ext cx="1965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56BEDC"/>
                </a:solidFill>
                <a:latin typeface="Aptos"/>
              </a:rPr>
              <a:t>Gate_Open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0" y="3218688"/>
            <a:ext cx="19659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B8C2D3"/>
                </a:solidFill>
                <a:latin typeface="Aptos"/>
              </a:rPr>
              <a:t>1 = Gate Opens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040880" y="3200400"/>
            <a:ext cx="502920" cy="0"/>
          </a:xfrm>
          <a:prstGeom prst="line">
            <a:avLst/>
          </a:prstGeom>
          <a:ln w="31750">
            <a:solidFill>
              <a:srgbClr val="56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685800" y="5806440"/>
            <a:ext cx="10835640" cy="18288"/>
          </a:xfrm>
          <a:prstGeom prst="rect">
            <a:avLst/>
          </a:prstGeom>
          <a:solidFill>
            <a:srgbClr val="36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925312"/>
            <a:ext cx="4114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E5C5C"/>
                </a:solidFill>
                <a:latin typeface="Aptos"/>
              </a:rPr>
              <a:t>B. PARKING FULL DETECTION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17720" y="5879592"/>
            <a:ext cx="914400" cy="530352"/>
          </a:xfrm>
          <a:prstGeom prst="roundRect">
            <a:avLst/>
          </a:prstGeom>
          <a:solidFill>
            <a:srgbClr val="16223A"/>
          </a:solidFill>
          <a:ln w="16510">
            <a:solidFill>
              <a:srgbClr val="56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17720" y="5952744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6BEDC"/>
                </a:solidFill>
                <a:latin typeface="Aptos"/>
              </a:rPr>
              <a:t>S1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60720" y="5879592"/>
            <a:ext cx="914400" cy="530352"/>
          </a:xfrm>
          <a:prstGeom prst="roundRect">
            <a:avLst/>
          </a:prstGeom>
          <a:solidFill>
            <a:srgbClr val="16223A"/>
          </a:solidFill>
          <a:ln w="16510">
            <a:solidFill>
              <a:srgbClr val="53C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0720" y="5952744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3C48B"/>
                </a:solidFill>
                <a:latin typeface="Aptos"/>
              </a:rPr>
              <a:t>S2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03720" y="5806440"/>
            <a:ext cx="1097280" cy="685800"/>
          </a:xfrm>
          <a:prstGeom prst="roundRect">
            <a:avLst/>
          </a:prstGeom>
          <a:solidFill>
            <a:srgbClr val="16223A"/>
          </a:solidFill>
          <a:ln w="16510">
            <a:solidFill>
              <a:srgbClr val="EE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03720" y="5879592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EE5C5C"/>
                </a:solidFill>
                <a:latin typeface="Aptos"/>
              </a:rPr>
              <a:t>AND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5532120" y="6053328"/>
            <a:ext cx="1371600" cy="91440"/>
          </a:xfrm>
          <a:prstGeom prst="line">
            <a:avLst/>
          </a:prstGeom>
          <a:ln w="27940">
            <a:solidFill>
              <a:srgbClr val="56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675120" y="6144768"/>
            <a:ext cx="228600" cy="100584"/>
          </a:xfrm>
          <a:prstGeom prst="line">
            <a:avLst/>
          </a:prstGeom>
          <a:ln w="27940">
            <a:solidFill>
              <a:srgbClr val="53C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275320" y="5806440"/>
            <a:ext cx="1828800" cy="685800"/>
          </a:xfrm>
          <a:prstGeom prst="roundRect">
            <a:avLst/>
          </a:prstGeom>
          <a:solidFill>
            <a:srgbClr val="16223A"/>
          </a:solidFill>
          <a:ln w="16510">
            <a:solidFill>
              <a:srgbClr val="EE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5320" y="5971032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EE5C5C"/>
                </a:solidFill>
                <a:latin typeface="Aptos"/>
              </a:rPr>
              <a:t>Parking_Full = 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001000" y="6144768"/>
            <a:ext cx="274320" cy="0"/>
          </a:xfrm>
          <a:prstGeom prst="line">
            <a:avLst/>
          </a:prstGeom>
          <a:ln w="27940">
            <a:solidFill>
              <a:srgbClr val="EE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85800" y="6510528"/>
            <a:ext cx="10332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B8C2D3"/>
                </a:solidFill>
                <a:latin typeface="Aptos"/>
              </a:rPr>
              <a:t>Logic used: NOT + AND   |   Every block maps directly to the Boolean equation.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B8C2D3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